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el torneo del Dilema del Prisionero: 8 estrategias que se enfrentan todas contra todas. Vamos a ver cómo se relacionan las funciones del programa, las dos estrategias que diseñamos, sus algoritmos y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Matriz de pagos: 3 si ambos cooperan, 5 y 0 si uno traiciona al otro, 1 si ambos traicionan. Con 8 estrategias hay 8 x 7 / 2 = 28 partidas; cada una tiene más de 200 rondas.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main() no tiene lógica del juego: solo llama a 8 funciones en orden, de arriba hacia abajo. ejecutarTorneo() recorre los 28 pares con el doble bucle i, j = i + 1 y llama a ejecutarPartida(). En cada ronda, ejecutarPartida() llama a la función de decisión de cada estrategia a través del puntero decidir, registra la jugada y calcula los puntos con la matriz de pagos. El reporte usa mostrarSeparador() como auxiliar. tipos_torneo.h define struct Estrategia y el tipo FuncionDecision, y lo incluyen todos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puntero a función FuncionDecision evita un if o switch por estrategia: ejecutarPartida() llama a estrategia.decidir(...) sin saber cuál es. Como no hay máximo de rondas, los historiales se crean con memoria dinámica del tamaño exacto y los puntajes son long long para no desbordarse.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Pavlov solo mira la ronda anterior: historialPropio[numeroRonda - 2] e historialOponente[numeroRonda - 2]. Las cuatro filas de la tabla se reducen a una regla: si ambos jugaron lo mismo, coopera; si no, traiciona. Después de T-T vuelve a cooperar, y después de T-C sigue aprovechando al rival que no castiga.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Sonda tiene dos fases. En las rondas 1 a 3 juega T, C, C para probar al rival. Desde la ronda 4 mira historialOponente[1] y historialOponente[2]: si el rival respondió con alguna T, lo trata como Tit for Tat; si no, lo explota traicionando siempre. Como esas jugadas ya no cambian, el modo queda fijo el resto de la partida.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dos funciones tienen la misma firma que las demás: char decidirXxx(int numeroRonda, const char historialPropio[], const char historialOponente[]), por eso se pueden guardar en el puntero decidir. Pavlov solo mira la ronda anterior y decide en tiempo constante. La Sonda tiene dos fases: exploración fija en las rondas 1 a 3 y, desde la 4, un modo que se calcula del historial del rival (posiciones 1 y 2, que son las rondas 2 y 3). Como esas jugadas no cambian, el modo queda fijo toda la partida, sin usar variables static.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Ejecución con 250 rondas por partida. La estrategia Aleatoria cambia en cada ejecución, así que los puntajes varían un poco, pero Tit for Tat ganó en las 6 ejecuciones que hicimos. Lo interesante: ganar partidas individuales no sirve si contra los rivales que se defienden solo sacas 1 punto por ronda.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Pavlov contra Siempre Traicionar: después de C-T cambia a T, después de T-T vuelve a C, así que alterna y saca 125 x 0 + 125 x 1 = 125. La Sonda contra Ojo por Dos Ojos: Ojo no se defiende en las rondas 2 y 3, la Sonda lo toma por ingenuo y lo traiciona, y la partida termina en traición mutua. Contra Tit for Tat la Sonda sí vuelve a cooperar y empata 749 a 749.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Cerramos con tres ideas: la cooperación con castigo es lo que más puntos acumula, el objetivo es sumar puntos y no ganarle al rival, y la exploración agresiva de la Sonda le cuesta caro contra estrategias que no perdonan.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587500"/>
            <a:ext cx="105664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B4DE"/>
                </a:solidFill>
                <a:latin typeface="Calibri"/>
              </a:rPr>
              <a:t>PROGRAMACIÓN II · UTEC · PROYECTO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968500"/>
            <a:ext cx="10566400" cy="17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>
                <a:solidFill>
                  <a:srgbClr val="F6F4EE"/>
                </a:solidFill>
                <a:latin typeface="Arial"/>
              </a:rPr>
              <a:t>Torneo del Dilema del Prisionero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873500"/>
            <a:ext cx="10566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FC8D8"/>
                </a:solidFill>
                <a:latin typeface="Calibri"/>
              </a:rPr>
              <a:t>8 estrategias, todos contra todos, en C++ con programación estructurada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4508500"/>
            <a:ext cx="1778000" cy="381000"/>
          </a:xfrm>
          <a:prstGeom prst="roundRect">
            <a:avLst>
              <a:gd name="adj" fmla="val 13333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6F4EE"/>
                </a:solidFill>
                <a:latin typeface="Courier New"/>
              </a:rPr>
              <a:t>C = cooperar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7800" y="4508500"/>
            <a:ext cx="1905000" cy="381000"/>
          </a:xfrm>
          <a:prstGeom prst="roundRect">
            <a:avLst>
              <a:gd name="adj" fmla="val 13333"/>
            </a:avLst>
          </a:prstGeom>
          <a:solidFill>
            <a:srgbClr val="C45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6F4EE"/>
                </a:solidFill>
                <a:latin typeface="Courier New"/>
              </a:rPr>
              <a:t>T = traicionar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60960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FC8D8"/>
                </a:solidFill>
                <a:latin typeface="Calibri"/>
              </a:rPr>
              <a:t>[Integrantes del grupo] · 2026-2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Cooperar o traicionar, más de 200 veces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413000"/>
          <a:ext cx="5969000" cy="1600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32000"/>
                <a:gridCol w="1968500"/>
                <a:gridCol w="196850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6F4E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6F4EE"/>
                          </a:solidFill>
                          <a:latin typeface="Calibri"/>
                        </a:rPr>
                        <a:t>Rival juega C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6F4EE"/>
                          </a:solidFill>
                          <a:latin typeface="Calibri"/>
                        </a:rPr>
                        <a:t>Rival juega T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Yo juego C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0 / 5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Yo juego T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5 / 0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4191000"/>
            <a:ext cx="5969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Puntos: yo / rival. Traicionar tienta, pero si ambos traicionan se llevan 1 punto cada uno en vez de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3000" y="2159000"/>
            <a:ext cx="3886200" cy="1079500"/>
          </a:xfrm>
          <a:prstGeom prst="roundRect">
            <a:avLst>
              <a:gd name="adj" fmla="val 9411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6200" y="2260600"/>
            <a:ext cx="3556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6200" y="2819400"/>
            <a:ext cx="3556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estrategias: 6 obligatorias y 2 propias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3000" y="3365500"/>
            <a:ext cx="3886200" cy="1079500"/>
          </a:xfrm>
          <a:prstGeom prst="roundRect">
            <a:avLst>
              <a:gd name="adj" fmla="val 9411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6200" y="3467100"/>
            <a:ext cx="3556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200" y="4025900"/>
            <a:ext cx="3556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partidas, todos contra todos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3000" y="4572000"/>
            <a:ext cx="3886200" cy="1079500"/>
          </a:xfrm>
          <a:prstGeom prst="roundRect">
            <a:avLst>
              <a:gd name="adj" fmla="val 9411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6200" y="4673600"/>
            <a:ext cx="3556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&gt;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200" y="5232400"/>
            <a:ext cx="3556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rondas por partida, sin máximo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DISEÑO DEL PROGRAMA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Diagrama de funciones: quién llama a quién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27200"/>
            <a:ext cx="876300" cy="279400"/>
          </a:xfrm>
          <a:prstGeom prst="roundRect">
            <a:avLst>
              <a:gd name="adj" fmla="val 18181"/>
            </a:avLst>
          </a:prstGeom>
          <a:solidFill>
            <a:srgbClr val="DCE7F3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alibri"/>
              </a:rPr>
              <a:t>Entrada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90700" y="1727200"/>
            <a:ext cx="1143000" cy="279400"/>
          </a:xfrm>
          <a:prstGeom prst="roundRect">
            <a:avLst>
              <a:gd name="adj" fmla="val 18181"/>
            </a:avLst>
          </a:prstGeom>
          <a:solidFill>
            <a:srgbClr val="FBE3CF"/>
          </a:solidFill>
          <a:ln w="12700">
            <a:solidFill>
              <a:srgbClr val="C45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alibri"/>
              </a:rPr>
              <a:t>Simulación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35300" y="1727200"/>
            <a:ext cx="1320800" cy="279400"/>
          </a:xfrm>
          <a:prstGeom prst="roundRect">
            <a:avLst>
              <a:gd name="adj" fmla="val 18181"/>
            </a:avLst>
          </a:prstGeom>
          <a:solidFill>
            <a:srgbClr val="E4EEDC"/>
          </a:solidFill>
          <a:ln w="12700">
            <a:solidFill>
              <a:srgbClr val="5B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alibri"/>
              </a:rPr>
              <a:t>Estadísticas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7700" y="1727200"/>
            <a:ext cx="876300" cy="279400"/>
          </a:xfrm>
          <a:prstGeom prst="roundRect">
            <a:avLst>
              <a:gd name="adj" fmla="val 18181"/>
            </a:avLst>
          </a:prstGeom>
          <a:solidFill>
            <a:srgbClr val="E8E2F2"/>
          </a:solidFill>
          <a:ln w="12700">
            <a:solidFill>
              <a:srgbClr val="6E5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alibri"/>
              </a:rPr>
              <a:t>Reporte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82800" y="3994150"/>
            <a:ext cx="292100" cy="0"/>
          </a:xfrm>
          <a:prstGeom prst="line">
            <a:avLst/>
          </a:prstGeom>
          <a:ln w="1270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74900" y="2470150"/>
            <a:ext cx="0" cy="3111500"/>
          </a:xfrm>
          <a:prstGeom prst="line">
            <a:avLst/>
          </a:prstGeom>
          <a:ln w="1270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74900" y="24701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74900" y="29146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4900" y="33591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74900" y="38036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74900" y="42481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74900" y="46926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74900" y="51371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74900" y="5581650"/>
            <a:ext cx="2921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07000" y="3359150"/>
            <a:ext cx="6350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09000" y="3359150"/>
            <a:ext cx="254000" cy="0"/>
          </a:xfrm>
          <a:prstGeom prst="line">
            <a:avLst/>
          </a:prstGeom>
          <a:ln w="1270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63000" y="2914650"/>
            <a:ext cx="0" cy="889000"/>
          </a:xfrm>
          <a:prstGeom prst="line">
            <a:avLst/>
          </a:prstGeom>
          <a:ln w="1270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63000" y="2914650"/>
            <a:ext cx="2540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63000" y="3359150"/>
            <a:ext cx="2540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63000" y="3803650"/>
            <a:ext cx="2540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07000" y="4692650"/>
            <a:ext cx="6350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36000" y="4692650"/>
            <a:ext cx="381000" cy="0"/>
          </a:xfrm>
          <a:prstGeom prst="line">
            <a:avLst/>
          </a:prstGeom>
          <a:ln w="1270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07000" y="5137150"/>
            <a:ext cx="4991100" cy="0"/>
          </a:xfrm>
          <a:prstGeom prst="line">
            <a:avLst/>
          </a:prstGeom>
          <a:ln w="12700">
            <a:solidFill>
              <a:srgbClr val="8A93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198100" y="4876800"/>
            <a:ext cx="0" cy="260350"/>
          </a:xfrm>
          <a:prstGeom prst="line">
            <a:avLst/>
          </a:prstGeom>
          <a:ln w="12700">
            <a:solidFill>
              <a:srgbClr val="8A93A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2800" y="3708400"/>
            <a:ext cx="1270000" cy="5715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4EE"/>
                </a:solidFill>
                <a:latin typeface="Courier New"/>
              </a:rPr>
              <a:t>main()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67000" y="22860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DCE7F3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leerNumeroRondas()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67000" y="27305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DCE7F3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inicializarEstrategias()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67000" y="31750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FBE3CF"/>
          </a:solidFill>
          <a:ln w="12700">
            <a:solidFill>
              <a:srgbClr val="C45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213D"/>
                </a:solidFill>
                <a:latin typeface="Courier New"/>
              </a:rPr>
              <a:t>ejecutarTorneo()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67000" y="36195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E4EEDC"/>
          </a:solidFill>
          <a:ln w="12700">
            <a:solidFill>
              <a:srgbClr val="5B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calcularEstadisticas()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67000" y="40640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E4EEDC"/>
          </a:solidFill>
          <a:ln w="12700">
            <a:solidFill>
              <a:srgbClr val="5B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ordenarRanking()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67000" y="45085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E8E2F2"/>
          </a:solidFill>
          <a:ln w="12700">
            <a:solidFill>
              <a:srgbClr val="6E5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mostrarDetalleTorneo()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67000" y="49530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E8E2F2"/>
          </a:solidFill>
          <a:ln w="12700">
            <a:solidFill>
              <a:srgbClr val="6E5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mostrarRanking()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67000" y="5397500"/>
            <a:ext cx="2540000" cy="368300"/>
          </a:xfrm>
          <a:prstGeom prst="roundRect">
            <a:avLst>
              <a:gd name="adj" fmla="val 13793"/>
            </a:avLst>
          </a:prstGeom>
          <a:solidFill>
            <a:srgbClr val="E8E2F2"/>
          </a:solidFill>
          <a:ln w="12700">
            <a:solidFill>
              <a:srgbClr val="6E5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mostrarGanador()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42000" y="3175000"/>
            <a:ext cx="2667000" cy="368300"/>
          </a:xfrm>
          <a:prstGeom prst="roundRect">
            <a:avLst>
              <a:gd name="adj" fmla="val 13793"/>
            </a:avLst>
          </a:prstGeom>
          <a:solidFill>
            <a:srgbClr val="FBE3CF"/>
          </a:solidFill>
          <a:ln w="12700">
            <a:solidFill>
              <a:srgbClr val="C45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213D"/>
                </a:solidFill>
                <a:latin typeface="Courier New"/>
              </a:rPr>
              <a:t>ejecutarPartida() x28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42000" y="4508500"/>
            <a:ext cx="2794000" cy="368300"/>
          </a:xfrm>
          <a:prstGeom prst="roundRect">
            <a:avLst>
              <a:gd name="adj" fmla="val 13793"/>
            </a:avLst>
          </a:prstGeom>
          <a:solidFill>
            <a:srgbClr val="E8E2F2"/>
          </a:solidFill>
          <a:ln w="12700">
            <a:solidFill>
              <a:srgbClr val="6E5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mostrarDetalleEstrategia()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17000" y="2730500"/>
            <a:ext cx="2362200" cy="368300"/>
          </a:xfrm>
          <a:prstGeom prst="roundRect">
            <a:avLst>
              <a:gd name="adj" fmla="val 13793"/>
            </a:avLst>
          </a:prstGeom>
          <a:solidFill>
            <a:srgbClr val="FBE3CF"/>
          </a:solidFill>
          <a:ln w="12700">
            <a:solidFill>
              <a:srgbClr val="C45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decidirXxx() x8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17000" y="3175000"/>
            <a:ext cx="2362200" cy="368300"/>
          </a:xfrm>
          <a:prstGeom prst="roundRect">
            <a:avLst>
              <a:gd name="adj" fmla="val 13793"/>
            </a:avLst>
          </a:prstGeom>
          <a:solidFill>
            <a:srgbClr val="FBE3CF"/>
          </a:solidFill>
          <a:ln w="12700">
            <a:solidFill>
              <a:srgbClr val="C45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registrarJugada()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17000" y="3619500"/>
            <a:ext cx="2362200" cy="368300"/>
          </a:xfrm>
          <a:prstGeom prst="roundRect">
            <a:avLst>
              <a:gd name="adj" fmla="val 13793"/>
            </a:avLst>
          </a:prstGeom>
          <a:solidFill>
            <a:srgbClr val="FBE3CF"/>
          </a:solidFill>
          <a:ln w="12700">
            <a:solidFill>
              <a:srgbClr val="C45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calcularPuntosRonda()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17000" y="4508500"/>
            <a:ext cx="2362200" cy="368300"/>
          </a:xfrm>
          <a:prstGeom prst="roundRect">
            <a:avLst>
              <a:gd name="adj" fmla="val 13793"/>
            </a:avLst>
          </a:prstGeom>
          <a:solidFill>
            <a:srgbClr val="E8E2F2"/>
          </a:solidFill>
          <a:ln w="12700">
            <a:solidFill>
              <a:srgbClr val="6E5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mostrarSeparador()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7000" y="2438400"/>
            <a:ext cx="2362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vía puntero </a:t>
            </a:r>
            <a:r>
              <a:rPr sz="1200" b="1">
                <a:solidFill>
                  <a:srgbClr val="4A5568"/>
                </a:solidFill>
                <a:latin typeface="Courier New"/>
              </a:rPr>
              <a:t>decidir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42000" y="5397500"/>
            <a:ext cx="5537200" cy="368300"/>
          </a:xfrm>
          <a:prstGeom prst="roundRect">
            <a:avLst>
              <a:gd name="adj" fmla="val 13793"/>
            </a:avLst>
          </a:prstGeom>
          <a:solidFill>
            <a:srgbClr val="F6F4EE"/>
          </a:solidFill>
          <a:ln w="12700">
            <a:solidFill>
              <a:srgbClr val="8A9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213D"/>
                </a:solidFill>
                <a:latin typeface="Courier New"/>
              </a:rPr>
              <a:t>tipos_torneo.h — struct Estrategia · FuncionDecision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DISEÑO DEL PROGRAMA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Una ronda dentro de ejecutarPartida()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86000"/>
            <a:ext cx="2336800" cy="2286000"/>
          </a:xfrm>
          <a:prstGeom prst="roundRect">
            <a:avLst>
              <a:gd name="adj" fmla="val 4444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89200"/>
            <a:ext cx="193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4581F"/>
                </a:solidFill>
                <a:latin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768600"/>
            <a:ext cx="19304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Arial"/>
              </a:rPr>
              <a:t>Decidir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38500"/>
            <a:ext cx="1930400" cy="120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Cada estrategia llama a su decidir y devuelve C o T mirando ambos historiales.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13100" y="3429000"/>
            <a:ext cx="27940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56000" y="2286000"/>
            <a:ext cx="2336800" cy="2286000"/>
          </a:xfrm>
          <a:prstGeom prst="roundRect">
            <a:avLst>
              <a:gd name="adj" fmla="val 4444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9200" y="2489200"/>
            <a:ext cx="193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4581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9200" y="2768600"/>
            <a:ext cx="19304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Arial"/>
              </a:rPr>
              <a:t>Registrar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9200" y="3238500"/>
            <a:ext cx="1930400" cy="120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registrarJugada() guarda la jugada y suma vecesC o vecesT.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6300" y="3429000"/>
            <a:ext cx="27940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99200" y="2286000"/>
            <a:ext cx="2336800" cy="2286000"/>
          </a:xfrm>
          <a:prstGeom prst="roundRect">
            <a:avLst>
              <a:gd name="adj" fmla="val 4444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2400" y="2489200"/>
            <a:ext cx="193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4581F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2768600"/>
            <a:ext cx="19304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Arial"/>
              </a:rPr>
              <a:t>Puntuar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2400" y="3238500"/>
            <a:ext cx="1930400" cy="120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calcularPuntosRonda() aplica la matriz de pagos a las dos jugadas.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99500" y="3429000"/>
            <a:ext cx="27940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42400" y="2286000"/>
            <a:ext cx="2336800" cy="2286000"/>
          </a:xfrm>
          <a:prstGeom prst="roundRect">
            <a:avLst>
              <a:gd name="adj" fmla="val 4444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5600" y="2489200"/>
            <a:ext cx="193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4581F"/>
                </a:solidFill>
                <a:latin typeface="Courier Ne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5600" y="2768600"/>
            <a:ext cx="19304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Arial"/>
              </a:rPr>
              <a:t>Acumular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5600" y="3238500"/>
            <a:ext cx="1930400" cy="120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Al terminar, los puntos van a puntosContra y puntajeTotal.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800" y="4953000"/>
            <a:ext cx="5181600" cy="762000"/>
          </a:xfrm>
          <a:prstGeom prst="roundRect">
            <a:avLst>
              <a:gd name="adj" fmla="val 10000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50800" bIns="50800" wrap="square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213D"/>
                </a:solidFill>
                <a:latin typeface="Calibri"/>
              </a:rPr>
              <a:t>Se repite en cada ronda. ejecutarTorneo() lo hace para los 28 pares (i, j = i + 1).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7600" y="4953000"/>
            <a:ext cx="5181600" cy="762000"/>
          </a:xfrm>
          <a:prstGeom prst="roundRect">
            <a:avLst>
              <a:gd name="adj" fmla="val 10000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50800" bIns="50800" wrap="square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213D"/>
                </a:solidFill>
                <a:latin typeface="Calibri"/>
              </a:rPr>
              <a:t>Los historiales se crean con new char[numeroRondas] y se liberan con delete[].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ESTRATEGIA PROPIA 1 · REACTIVA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Pavlov: ganar-mantener, perder-cambiar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222500"/>
            <a:ext cx="4953000" cy="1079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Mira el resultado de su jugada anterior. Si le fue bien (3 o 5 puntos) la repite; si le fue mal (0 o 1) la cambia. En la ronda 1 coopera.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3302000"/>
            <a:ext cx="4953000" cy="1206500"/>
          </a:xfrm>
          <a:prstGeom prst="roundRect">
            <a:avLst>
              <a:gd name="adj" fmla="val 8421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50800" bIns="50800" wrap="square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13D"/>
                </a:solidFill>
                <a:latin typeface="Arial"/>
              </a:rPr>
              <a:t>Si ambos jugaron lo mismo, coopera. Si jugaron distinto, traiciona.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699000"/>
            <a:ext cx="4953000" cy="1079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No copia al rival como Tit for Tat: reacciona a su propio resultado, y así sale sola de una cadena de traiciones mutuas.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3000" y="2540000"/>
          <a:ext cx="5156200" cy="2413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51000"/>
                <a:gridCol w="889000"/>
                <a:gridCol w="1663700"/>
                <a:gridCol w="952500"/>
              </a:tblGrid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Antes (yo, rival)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Puntos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Evalúa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Juega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C, C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Ganó: mantiene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F6FB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T, C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Ganó: mantiene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4581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C, T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Perdió: cambia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4581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T, T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Perdió: cambia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F6FB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ESTRATEGIA PROPIA 2 · MIXTA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Sonda: primero prueba, después decide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03600" y="3746500"/>
            <a:ext cx="66040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604000" y="3746500"/>
            <a:ext cx="444500" cy="0"/>
          </a:xfrm>
          <a:prstGeom prst="line">
            <a:avLst/>
          </a:prstGeom>
          <a:ln w="1905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48500" y="2984500"/>
            <a:ext cx="0" cy="1524000"/>
          </a:xfrm>
          <a:prstGeom prst="line">
            <a:avLst/>
          </a:prstGeom>
          <a:ln w="1905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048500" y="2984500"/>
            <a:ext cx="444500" cy="0"/>
          </a:xfrm>
          <a:prstGeom prst="line">
            <a:avLst/>
          </a:prstGeom>
          <a:ln w="19050">
            <a:solidFill>
              <a:srgbClr val="2F6F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48500" y="4508500"/>
            <a:ext cx="444500" cy="0"/>
          </a:xfrm>
          <a:prstGeom prst="line">
            <a:avLst/>
          </a:prstGeom>
          <a:ln w="19050">
            <a:solidFill>
              <a:srgbClr val="C458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2800" y="3048000"/>
            <a:ext cx="762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Ronda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365500"/>
            <a:ext cx="762000" cy="762000"/>
          </a:xfrm>
          <a:prstGeom prst="roundRect">
            <a:avLst>
              <a:gd name="adj" fmla="val 13333"/>
            </a:avLst>
          </a:prstGeom>
          <a:solidFill>
            <a:srgbClr val="C45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6F4EE"/>
                </a:solidFill>
                <a:latin typeface="Courier New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7200" y="3048000"/>
            <a:ext cx="762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Ronda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200" y="3365500"/>
            <a:ext cx="762000" cy="762000"/>
          </a:xfrm>
          <a:prstGeom prst="roundRect">
            <a:avLst>
              <a:gd name="adj" fmla="val 13333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6F4EE"/>
                </a:solidFill>
                <a:latin typeface="Courier New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600" y="3048000"/>
            <a:ext cx="762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Ronda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41600" y="3365500"/>
            <a:ext cx="762000" cy="762000"/>
          </a:xfrm>
          <a:prstGeom prst="roundRect">
            <a:avLst>
              <a:gd name="adj" fmla="val 13333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6F4EE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318000"/>
            <a:ext cx="2667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Fase de exploración: siempre la misma secuencia.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4000" y="3048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BFAF6"/>
          </a:solidFill>
          <a:ln w="12700">
            <a:solidFill>
              <a:srgbClr val="8A9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50800" bIns="50800" wrap="square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5568"/>
                </a:solidFill>
                <a:latin typeface="Calibri"/>
              </a:rPr>
              <a:t>DESDE LA RONDA 4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Arial"/>
              </a:rPr>
              <a:t>¿El rival jugó T en la ronda 2 o 3?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3000" y="2349500"/>
            <a:ext cx="3886200" cy="1270000"/>
          </a:xfrm>
          <a:prstGeom prst="roundRect">
            <a:avLst>
              <a:gd name="adj" fmla="val 8000"/>
            </a:avLst>
          </a:prstGeom>
          <a:solidFill>
            <a:srgbClr val="DCE7F3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50800" bIns="50800" wrap="square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Arial"/>
              </a:rPr>
              <a:t>Sí, se defendió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213D"/>
                </a:solidFill>
                <a:latin typeface="Calibri"/>
              </a:rPr>
              <a:t>Juega como Tit for Tat: copia la jugada anterior del rival.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3000" y="3873500"/>
            <a:ext cx="3886200" cy="1270000"/>
          </a:xfrm>
          <a:prstGeom prst="roundRect">
            <a:avLst>
              <a:gd name="adj" fmla="val 8000"/>
            </a:avLst>
          </a:prstGeom>
          <a:solidFill>
            <a:srgbClr val="FBE3CF"/>
          </a:solidFill>
          <a:ln w="12700">
            <a:solidFill>
              <a:srgbClr val="C45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50800" bIns="50800" wrap="square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Arial"/>
              </a:rPr>
              <a:t>No, no se defendió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213D"/>
                </a:solidFill>
                <a:latin typeface="Calibri"/>
              </a:rPr>
              <a:t>Traiciona siempre: explota al rival ingenuo.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5461000"/>
            <a:ext cx="105664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oponenteSeDefendio se calcula del historial y no con una variable static, así cada partida empieza limpia.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IMPLEMENTACIÓN · ESTRATEGIAS_JUEGO.CPP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Los algoritmos de nuestras estrategias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5181600" cy="4064000"/>
          </a:xfrm>
          <a:prstGeom prst="roundRect">
            <a:avLst>
              <a:gd name="adj" fmla="val 2500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57400"/>
            <a:ext cx="47752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F6FB0"/>
                </a:solidFill>
                <a:latin typeface="Courier New"/>
              </a:rPr>
              <a:t>decidirPavlov()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489200"/>
            <a:ext cx="47752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5568"/>
                </a:solidFill>
                <a:latin typeface="Calibri"/>
              </a:rPr>
              <a:t>1. Ronda 1: devolver C.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5568"/>
                </a:solidFill>
                <a:latin typeface="Calibri"/>
              </a:rPr>
              <a:t>2. Leer mi jugada y la del rival en la ronda anterior (posición numeroRonda − 2).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5568"/>
                </a:solidFill>
                <a:latin typeface="Calibri"/>
              </a:rPr>
              <a:t>3. Si son iguales devolver C; si son distintas, 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000" y="3810000"/>
            <a:ext cx="4775200" cy="2006600"/>
          </a:xfrm>
          <a:prstGeom prst="roundRect">
            <a:avLst>
              <a:gd name="adj" fmla="val 3797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88900" bIns="889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if (numeroRonda == 1)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return </a:t>
            </a:r>
            <a:r>
              <a:rPr sz="1200" b="1">
                <a:solidFill>
                  <a:srgbClr val="8FB4DE"/>
                </a:solidFill>
                <a:latin typeface="Courier New"/>
              </a:rPr>
              <a:t>'C'</a:t>
            </a:r>
            <a:r>
              <a:rPr sz="1200" b="0">
                <a:solidFill>
                  <a:srgbClr val="F6F4EE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char miJugadaAnterior =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historialPropio[numeroRonda - 2];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char jugadaAnteriorRival =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historialOponente[numeroRonda - 2];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if (miJugadaAnterior == jugadaAnteriorRival)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return </a:t>
            </a:r>
            <a:r>
              <a:rPr sz="1200" b="1">
                <a:solidFill>
                  <a:srgbClr val="8FB4DE"/>
                </a:solidFill>
                <a:latin typeface="Courier New"/>
              </a:rPr>
              <a:t>'C'</a:t>
            </a:r>
            <a:r>
              <a:rPr sz="1200" b="0">
                <a:solidFill>
                  <a:srgbClr val="F6F4EE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return </a:t>
            </a:r>
            <a:r>
              <a:rPr sz="1200" b="1">
                <a:solidFill>
                  <a:srgbClr val="E8956A"/>
                </a:solidFill>
                <a:latin typeface="Courier New"/>
              </a:rPr>
              <a:t>'T'</a:t>
            </a:r>
            <a:r>
              <a:rPr sz="1200" b="0">
                <a:solidFill>
                  <a:srgbClr val="F6F4EE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7600" y="1905000"/>
            <a:ext cx="5181600" cy="4064000"/>
          </a:xfrm>
          <a:prstGeom prst="roundRect">
            <a:avLst>
              <a:gd name="adj" fmla="val 2500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7752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4581F"/>
                </a:solidFill>
                <a:latin typeface="Courier New"/>
              </a:rPr>
              <a:t>decidirSonda()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89200"/>
            <a:ext cx="47752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5568"/>
                </a:solidFill>
                <a:latin typeface="Calibri"/>
              </a:rPr>
              <a:t>1. Rondas 1, 2 y 3: devolver T, C, C.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5568"/>
                </a:solidFill>
                <a:latin typeface="Calibri"/>
              </a:rPr>
              <a:t>2. Desde la ronda 4: ¿el rival jugó T en la ronda 2 o 3?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5568"/>
                </a:solidFill>
                <a:latin typeface="Calibri"/>
              </a:rPr>
              <a:t>3. Si se defendió, copiar su última jugada; si no, devolver 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10000"/>
            <a:ext cx="4775200" cy="2006600"/>
          </a:xfrm>
          <a:prstGeom prst="roundRect">
            <a:avLst>
              <a:gd name="adj" fmla="val 3797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88900" bIns="88900" wrap="square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if (numeroRonda == 1) return </a:t>
            </a:r>
            <a:r>
              <a:rPr sz="1200" b="1">
                <a:solidFill>
                  <a:srgbClr val="E8956A"/>
                </a:solidFill>
                <a:latin typeface="Courier New"/>
              </a:rPr>
              <a:t>'T'</a:t>
            </a:r>
            <a:r>
              <a:rPr sz="1200" b="0">
                <a:solidFill>
                  <a:srgbClr val="F6F4EE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if (numeroRonda == 2 || numeroRonda == 3)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return </a:t>
            </a:r>
            <a:r>
              <a:rPr sz="1200" b="1">
                <a:solidFill>
                  <a:srgbClr val="8FB4DE"/>
                </a:solidFill>
                <a:latin typeface="Courier New"/>
              </a:rPr>
              <a:t>'C'</a:t>
            </a:r>
            <a:r>
              <a:rPr sz="1200" b="0">
                <a:solidFill>
                  <a:srgbClr val="F6F4EE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bool oponenteSeDefendio =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historialOponente[1] == 'T' ||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historialOponente[2] == 'T';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if (oponenteSeDefendio)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    return historialOponente[numeroRonda - 2];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6F4EE"/>
                </a:solidFill>
                <a:latin typeface="Courier New"/>
              </a:rPr>
              <a:t>return </a:t>
            </a:r>
            <a:r>
              <a:rPr sz="1200" b="1">
                <a:solidFill>
                  <a:srgbClr val="E8956A"/>
                </a:solidFill>
                <a:latin typeface="Courier New"/>
              </a:rPr>
              <a:t>'T'</a:t>
            </a:r>
            <a:r>
              <a:rPr sz="1200" b="0">
                <a:solidFill>
                  <a:srgbClr val="F6F4EE"/>
                </a:solidFill>
                <a:latin typeface="Courier New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RESULTADOS · 250 RONDAS POR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Ranking final: ganó Tit for Tat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7048500" cy="3543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8000"/>
                <a:gridCol w="2540000"/>
                <a:gridCol w="952500"/>
                <a:gridCol w="571500"/>
                <a:gridCol w="571500"/>
                <a:gridCol w="571500"/>
                <a:gridCol w="1333500"/>
              </a:tblGrid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Puntos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6F4EE"/>
                          </a:solidFill>
                          <a:latin typeface="Calibri"/>
                        </a:rPr>
                        <a:t>% C</a:t>
                      </a:r>
                    </a:p>
                  </a:txBody>
                  <a:tcPr anchor="ctr" marL="88900" marR="88900" marT="25400" marB="25400">
                    <a:solidFill>
                      <a:srgbClr val="14213D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25400" marB="25400">
                    <a:solidFill>
                      <a:srgbClr val="DCE7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Tit for Tat</a:t>
                      </a:r>
                    </a:p>
                  </a:txBody>
                  <a:tcPr anchor="ctr" marL="88900" marR="88900" marT="25400" marB="25400">
                    <a:solidFill>
                      <a:srgbClr val="DCE7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4570</a:t>
                      </a:r>
                    </a:p>
                  </a:txBody>
                  <a:tcPr anchor="ctr" marL="88900" marR="88900" marT="25400" marB="25400">
                    <a:solidFill>
                      <a:srgbClr val="DCE7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8900" marR="88900" marT="25400" marB="25400">
                    <a:solidFill>
                      <a:srgbClr val="DCE7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8900" marR="88900" marT="25400" marB="25400">
                    <a:solidFill>
                      <a:srgbClr val="DCE7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8900" marR="88900" marT="25400" marB="25400">
                    <a:solidFill>
                      <a:srgbClr val="DCE7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78.9</a:t>
                      </a:r>
                    </a:p>
                  </a:txBody>
                  <a:tcPr anchor="ctr" marL="88900" marR="88900" marT="25400" marB="25400">
                    <a:solidFill>
                      <a:srgbClr val="DCE7F3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Vengativa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4235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57.3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Pavlov (propia)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4176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76.3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Ojo por Dos Ojos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3964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68.1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Sonda (propia)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3788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25.8</a:t>
                      </a:r>
                    </a:p>
                  </a:txBody>
                  <a:tcPr anchor="ctr" marL="88900" marR="88900" marT="25400" marB="25400">
                    <a:solidFill>
                      <a:srgbClr val="FBE3C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Siempre Traicionar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3754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Aleatoria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3733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48.2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Siempre Cooperar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3366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588000"/>
            <a:ext cx="70485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G / P / E = partidas ganadas, perdidas y empatadas. % C = cooperación.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5000" y="1905000"/>
            <a:ext cx="3124200" cy="1714500"/>
          </a:xfrm>
          <a:prstGeom prst="roundRect">
            <a:avLst>
              <a:gd name="adj" fmla="val 5925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2057400"/>
            <a:ext cx="2794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Arial"/>
              </a:rPr>
              <a:t>0 victorias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641600"/>
            <a:ext cx="27940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Tit for Tat no le ganó a nadie, pero sacó 3 puntos por ronda casi siempre.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0" y="3810000"/>
            <a:ext cx="3124200" cy="1714500"/>
          </a:xfrm>
          <a:prstGeom prst="roundRect">
            <a:avLst>
              <a:gd name="adj" fmla="val 5925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962400"/>
            <a:ext cx="2794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Arial"/>
              </a:rPr>
              <a:t>7 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546600"/>
            <a:ext cx="27940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Calibri"/>
              </a:rPr>
              <a:t>Siempre Traicionar ganó todas sus partidas y aun así quedó 6.ª.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B0"/>
                </a:solidFill>
                <a:latin typeface="Calibri"/>
              </a:rPr>
              <a:t>RESULTADOS · NUESTRAS ESTRATEGIAS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  <a:latin typeface="Arial"/>
              </a:rPr>
              <a:t>¿Funcionaron como esperábamos?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5181600" cy="3302000"/>
          </a:xfrm>
          <a:prstGeom prst="roundRect">
            <a:avLst>
              <a:gd name="adj" fmla="val 3076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6000" y="2057400"/>
            <a:ext cx="4775200" cy="406400"/>
          </a:xfrm>
          <a:prstGeom prst="roundRect">
            <a:avLst>
              <a:gd name="adj" fmla="val 15625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13D"/>
                </a:solidFill>
                <a:latin typeface="Arial"/>
              </a:rPr>
              <a:t>Pavlov · 3.º · 4176 pts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16000" y="2616200"/>
          <a:ext cx="4775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000"/>
                <a:gridCol w="121920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Tit for Tat, Vengativa, Ojo por Dos Ojos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750 c/u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Siempre Cooperar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Sonda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503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Siempre Traicionar (su peor)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16000" y="4191000"/>
            <a:ext cx="47752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213D"/>
                </a:solidFill>
                <a:latin typeface="Calibri"/>
              </a:rPr>
              <a:t>Sí. </a:t>
            </a:r>
            <a:r>
              <a:rPr sz="1300" b="0">
                <a:solidFill>
                  <a:srgbClr val="4A5568"/>
                </a:solidFill>
                <a:latin typeface="Calibri"/>
              </a:rPr>
              <a:t>Coopera con todas las amables. Su punto débil es Siempre Traicionar: alterna C y T y pierde cada dos rondas.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7600" y="1905000"/>
            <a:ext cx="5181600" cy="3302000"/>
          </a:xfrm>
          <a:prstGeom prst="roundRect">
            <a:avLst>
              <a:gd name="adj" fmla="val 3076"/>
            </a:avLst>
          </a:prstGeom>
          <a:solidFill>
            <a:srgbClr val="FBFAF6"/>
          </a:solidFill>
          <a:ln w="12700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057400"/>
            <a:ext cx="4775200" cy="406400"/>
          </a:xfrm>
          <a:prstGeom prst="roundRect">
            <a:avLst>
              <a:gd name="adj" fmla="val 15625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 wrap="square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13D"/>
                </a:solidFill>
                <a:latin typeface="Arial"/>
              </a:rPr>
              <a:t>Sonda · 5.º · 3788 pts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616200"/>
          <a:ext cx="4775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000"/>
                <a:gridCol w="121920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Siempre Cooperar (su mejor)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1246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Tit for Tat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749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Ojo por Dos Ojos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266</a:t>
                      </a:r>
                    </a:p>
                  </a:txBody>
                  <a:tcPr anchor="ctr" marL="88900" marR="88900" marT="25400" marB="25400">
                    <a:solidFill>
                      <a:srgbClr val="FBFAF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vs Vengativa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252</a:t>
                      </a:r>
                    </a:p>
                  </a:txBody>
                  <a:tcPr anchor="ctr" marL="88900" marR="889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191000"/>
            <a:ext cx="47752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213D"/>
                </a:solidFill>
                <a:latin typeface="Calibri"/>
              </a:rPr>
              <a:t>A medias. </a:t>
            </a:r>
            <a:r>
              <a:rPr sz="1300" b="0">
                <a:solidFill>
                  <a:srgbClr val="4A5568"/>
                </a:solidFill>
                <a:latin typeface="Calibri"/>
              </a:rPr>
              <a:t>Explota a Siempre Cooperar, pero su T de la ronda 1 hace que Vengativa la castigue para siempre.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5397500"/>
            <a:ext cx="10566400" cy="444500"/>
          </a:xfrm>
          <a:prstGeom prst="roundRect">
            <a:avLst>
              <a:gd name="adj" fmla="val 17142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27000" tIns="50800" bIns="50800" wrap="square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213D"/>
                </a:solidFill>
                <a:latin typeface="Calibri"/>
              </a:rPr>
              <a:t>En 6 ejecuciones con 250 rondas: Tit for Tat fue 1.ª siempre, Pavlov 2.ª o 3.ª y Sonda 4.ª o 5.ª.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FB4DE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6F4EE"/>
                </a:solidFill>
                <a:latin typeface="Arial"/>
              </a:rPr>
              <a:t>Lo que nos dejó el torneo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86000"/>
            <a:ext cx="3314700" cy="3048000"/>
          </a:xfrm>
          <a:prstGeom prst="roundRect">
            <a:avLst>
              <a:gd name="adj" fmla="val 3333"/>
            </a:avLst>
          </a:prstGeom>
          <a:solidFill>
            <a:srgbClr val="1D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2489200"/>
            <a:ext cx="2857500" cy="444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8FB4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3048000"/>
            <a:ext cx="2857500" cy="698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6F4EE"/>
                </a:solidFill>
                <a:latin typeface="Arial"/>
              </a:rPr>
              <a:t>Empezar cooperando paga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873500"/>
            <a:ext cx="2857500" cy="1333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FC8D8"/>
                </a:solidFill>
                <a:latin typeface="Calibri"/>
              </a:rPr>
              <a:t>Las 4 primeras del ranking cooperan en la ronda 1 y responden a la traición.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8650" y="2286000"/>
            <a:ext cx="3314700" cy="3048000"/>
          </a:xfrm>
          <a:prstGeom prst="roundRect">
            <a:avLst>
              <a:gd name="adj" fmla="val 3333"/>
            </a:avLst>
          </a:prstGeom>
          <a:solidFill>
            <a:srgbClr val="1D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7250" y="2489200"/>
            <a:ext cx="2857500" cy="444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8FB4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0" y="3048000"/>
            <a:ext cx="2857500" cy="698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6F4EE"/>
                </a:solidFill>
                <a:latin typeface="Arial"/>
              </a:rPr>
              <a:t>Ganar partidas no es ganar el torneo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0" y="3873500"/>
            <a:ext cx="2857500" cy="1333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FC8D8"/>
                </a:solidFill>
                <a:latin typeface="Calibri"/>
              </a:rPr>
              <a:t>Siempre Traicionar ganó 7 de 7 y quedó 6.ª; Tit for Tat no ganó ninguna y fue 1.ª.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4500" y="2286000"/>
            <a:ext cx="3314700" cy="3048000"/>
          </a:xfrm>
          <a:prstGeom prst="roundRect">
            <a:avLst>
              <a:gd name="adj" fmla="val 3333"/>
            </a:avLst>
          </a:prstGeom>
          <a:solidFill>
            <a:srgbClr val="1D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100" y="2489200"/>
            <a:ext cx="2857500" cy="444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956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100" y="3048000"/>
            <a:ext cx="2857500" cy="698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6F4EE"/>
                </a:solidFill>
                <a:latin typeface="Arial"/>
              </a:rPr>
              <a:t>Probar al rival tiene un costo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100" y="3873500"/>
            <a:ext cx="2857500" cy="1333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FC8D8"/>
                </a:solidFill>
                <a:latin typeface="Calibri"/>
              </a:rPr>
              <a:t>La Sonda gana mucho ante ingenuos, pero su primera traición le cierra la cooperación con quien castiga.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9200" y="6172200"/>
            <a:ext cx="12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BFC8D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